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Roboto Mono"/>
      <p:regular r:id="rId22"/>
      <p:bold r:id="rId23"/>
      <p:italic r:id="rId24"/>
      <p:boldItalic r:id="rId25"/>
    </p:embeddedFont>
    <p:embeddedFont>
      <p:font typeface="Merriweath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RobotoMono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regular.fntdata"/><Relationship Id="rId25" Type="http://schemas.openxmlformats.org/officeDocument/2006/relationships/font" Target="fonts/RobotoMono-boldItalic.fntdata"/><Relationship Id="rId28" Type="http://schemas.openxmlformats.org/officeDocument/2006/relationships/font" Target="fonts/Merriweather-italic.fntdata"/><Relationship Id="rId27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6d116a5e1e53e739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6d116a5e1e53e739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6d116a5e1e53e739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6d116a5e1e53e739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6d116a5e1e53e739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6d116a5e1e53e739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6d116a5e1e53e739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6d116a5e1e53e739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6d116a5e1e53e739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6d116a5e1e53e739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6d116a5e1e53e739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6d116a5e1e53e739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6d116a5e1e53e739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6d116a5e1e53e739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6d116a5e1e53e739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6d116a5e1e53e739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6d116a5e1e53e739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6d116a5e1e53e739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6d116a5e1e53e739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6d116a5e1e53e739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6d116a5e1e53e739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6d116a5e1e53e739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616075" y="2276400"/>
            <a:ext cx="3097800" cy="2635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Noodles Crypto Analytics Platform 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End-to-End Data Pipeline with Python &amp; Power BI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Reece Gow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September 2026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 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785500" y="1001275"/>
            <a:ext cx="4019700" cy="3106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Automated cryptocurrency and social-engagement analytics pipeline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Turn raw market and social data into reliable, decision-ready insights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Python ETL + MySQL star schema + SQL analytical views + Power BI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Interactive dashboards covering token performance, platforms, trends and executive insights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Faster repeatable analysis with automated aggregation, validation and reporting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Problem 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962200" y="953250"/>
            <a:ext cx="3581400" cy="3237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Manual crypto and social-engagement analysis is time-consuming and difficult to repeat consistently.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reliable, automated and scalable analytics solution.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Executives, analysts and decision-makers.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Raw JSON data sits across multiple sources and needs cleaning, validation, aggregation and modelling before it becomes useful.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Metric: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Deliver clear, daily, decision-ready insights through Power BI.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Architecture 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643075" y="1881750"/>
            <a:ext cx="3043800" cy="1380000"/>
          </a:xfrm>
          <a:prstGeom prst="rect">
            <a:avLst/>
          </a:prstGeom>
          <a:gradFill>
            <a:gsLst>
              <a:gs pos="0">
                <a:srgbClr val="EFE6DE"/>
              </a:gs>
              <a:gs pos="100000">
                <a:srgbClr val="BEA48B"/>
              </a:gs>
            </a:gsLst>
            <a:lin ang="5400012" scaled="0"/>
          </a:gradFill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Tech: Python, pandas, SQLAlchemy, MySQL, Power BI</a:t>
            </a:r>
            <a:endParaRPr b="1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Flow: JSON → Staging → Star Schema → Aggregations → SQL Views → Dashboards</a:t>
            </a:r>
            <a:endParaRPr b="1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Automation: Jupyter-based ETL + scheduled refresh</a:t>
            </a:r>
            <a:endParaRPr b="1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Model: DimCurrency, DimDate, DimPlatform, FactSocialEngagement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6" title="architecture-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2600" y="178700"/>
            <a:ext cx="2928850" cy="4911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Model 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616075" y="1489550"/>
            <a:ext cx="3097800" cy="2352600"/>
          </a:xfrm>
          <a:prstGeom prst="rect">
            <a:avLst/>
          </a:prstGeom>
          <a:gradFill>
            <a:gsLst>
              <a:gs pos="0">
                <a:srgbClr val="EFE6DE"/>
              </a:gs>
              <a:gs pos="100000">
                <a:srgbClr val="BEA48B"/>
              </a:gs>
            </a:gsLst>
            <a:lin ang="5400012" scaled="0"/>
          </a:gradFill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Schema:</a:t>
            </a:r>
            <a:r>
              <a:rPr lang="en">
                <a:solidFill>
                  <a:srgbClr val="000000"/>
                </a:solidFill>
              </a:rPr>
              <a:t> Star schema in MySQL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noodles_dw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Dimensions: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DimCurrency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DimDate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DimPlatform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Fact Table: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FactSocialEngagement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Purpose:</a:t>
            </a:r>
            <a:r>
              <a:rPr lang="en">
                <a:solidFill>
                  <a:srgbClr val="000000"/>
                </a:solidFill>
              </a:rPr>
              <a:t> Separate descriptive dimensions from engagement measures for cleaner analysis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Benefits:</a:t>
            </a:r>
            <a:r>
              <a:rPr lang="en">
                <a:solidFill>
                  <a:srgbClr val="000000"/>
                </a:solidFill>
              </a:rPr>
              <a:t> Simpler relationships, better Power BI performance, reusable time intelligence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Grain:</a:t>
            </a:r>
            <a:r>
              <a:rPr lang="en">
                <a:solidFill>
                  <a:srgbClr val="000000"/>
                </a:solidFill>
              </a:rPr>
              <a:t> Social-engagement records linked to currency, date and platform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5900" y="791663"/>
            <a:ext cx="3941552" cy="333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ETL Pipeline 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616075" y="1561775"/>
            <a:ext cx="3097800" cy="2635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D0BDAB"/>
              </a:gs>
            </a:gsLst>
            <a:lin ang="5400012" scaled="0"/>
          </a:gradFill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Extract:</a:t>
            </a:r>
            <a:r>
              <a:rPr lang="en">
                <a:solidFill>
                  <a:srgbClr val="000000"/>
                </a:solidFill>
              </a:rPr>
              <a:t> Load raw JSON source files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Transform:</a:t>
            </a:r>
            <a:r>
              <a:rPr lang="en">
                <a:solidFill>
                  <a:srgbClr val="000000"/>
                </a:solidFill>
              </a:rPr>
              <a:t> Clean, normalise and validate data with pandas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Load:</a:t>
            </a:r>
            <a:r>
              <a:rPr lang="en">
                <a:solidFill>
                  <a:srgbClr val="000000"/>
                </a:solidFill>
              </a:rPr>
              <a:t> Write validated data into MySQL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noodles_dw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Features:</a:t>
            </a:r>
            <a:r>
              <a:rPr lang="en">
                <a:solidFill>
                  <a:srgbClr val="000000"/>
                </a:solidFill>
              </a:rPr>
              <a:t> Error handling, logging, null checks, duplicate checks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Output:</a:t>
            </a:r>
            <a:r>
              <a:rPr lang="en">
                <a:solidFill>
                  <a:srgbClr val="000000"/>
                </a:solidFill>
              </a:rPr>
              <a:t> Aggregation tables and Power BI-ready SQL views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Monitoring:</a:t>
            </a:r>
            <a:r>
              <a:rPr lang="en">
                <a:solidFill>
                  <a:srgbClr val="000000"/>
                </a:solidFill>
              </a:rPr>
              <a:t> Validation cells + ETL logs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8175" y="1657325"/>
            <a:ext cx="4676250" cy="18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Quality &amp; Validation 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506850" y="1829625"/>
            <a:ext cx="3097800" cy="2429700"/>
          </a:xfrm>
          <a:prstGeom prst="rect">
            <a:avLst/>
          </a:prstGeom>
          <a:gradFill>
            <a:gsLst>
              <a:gs pos="0">
                <a:srgbClr val="EFE6DE"/>
              </a:gs>
              <a:gs pos="100000">
                <a:srgbClr val="BEA48B"/>
              </a:gs>
            </a:gsLst>
            <a:lin ang="5400012" scaled="0"/>
          </a:gradFill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Checks:</a:t>
            </a:r>
            <a:r>
              <a:rPr lang="en">
                <a:solidFill>
                  <a:srgbClr val="000000"/>
                </a:solidFill>
              </a:rPr>
              <a:t> Nulls, duplicates, data types and referential integrity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Validation:</a:t>
            </a:r>
            <a:r>
              <a:rPr lang="en">
                <a:solidFill>
                  <a:srgbClr val="000000"/>
                </a:solidFill>
              </a:rPr>
              <a:t> Currency, date and platform relationships checked before reporting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Reject Handling:</a:t>
            </a:r>
            <a:r>
              <a:rPr lang="en">
                <a:solidFill>
                  <a:srgbClr val="000000"/>
                </a:solidFill>
              </a:rPr>
              <a:t> Invalid records reviewed before loading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QA:</a:t>
            </a:r>
            <a:r>
              <a:rPr lang="en">
                <a:solidFill>
                  <a:srgbClr val="000000"/>
                </a:solidFill>
              </a:rPr>
              <a:t> Re-run validation cells 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06_powerbi_prep.ipynb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Expected Result:</a:t>
            </a:r>
            <a:r>
              <a:rPr lang="en">
                <a:solidFill>
                  <a:srgbClr val="000000"/>
                </a:solidFill>
              </a:rPr>
              <a:t> No orphaned records, expected row counts, integrity checks pass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Purpose:</a:t>
            </a:r>
            <a:r>
              <a:rPr lang="en">
                <a:solidFill>
                  <a:srgbClr val="000000"/>
                </a:solidFill>
              </a:rPr>
              <a:t> Prevent bad data from reaching Power BI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025" y="1721625"/>
            <a:ext cx="4820974" cy="2030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BI Executive Dashboard 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616075" y="1611200"/>
            <a:ext cx="3097800" cy="2635500"/>
          </a:xfrm>
          <a:prstGeom prst="rect">
            <a:avLst/>
          </a:prstGeom>
          <a:gradFill>
            <a:gsLst>
              <a:gs pos="0">
                <a:srgbClr val="EFE6DE"/>
              </a:gs>
              <a:gs pos="100000">
                <a:srgbClr val="BEA48B"/>
              </a:gs>
            </a:gsLst>
            <a:lin ang="5400012" scaled="0"/>
          </a:gradFill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KPIs:</a:t>
            </a:r>
            <a:r>
              <a:rPr lang="en">
                <a:solidFill>
                  <a:srgbClr val="000000"/>
                </a:solidFill>
              </a:rPr>
              <a:t> Total Engagements, Avg Engagement Score, Recent Engagement, MoM Change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Features:</a:t>
            </a:r>
            <a:r>
              <a:rPr lang="en">
                <a:solidFill>
                  <a:srgbClr val="000000"/>
                </a:solidFill>
              </a:rPr>
              <a:t> Interactive slicers, cross-filtering, drill-through and bookmarks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Views:</a:t>
            </a:r>
            <a:r>
              <a:rPr lang="en">
                <a:solidFill>
                  <a:srgbClr val="000000"/>
                </a:solidFill>
              </a:rPr>
              <a:t> Executive Overview, Platform Analysis, Time Series, Currency Deep Dive, Executive Storytelling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Analysis:</a:t>
            </a:r>
            <a:r>
              <a:rPr lang="en">
                <a:solidFill>
                  <a:srgbClr val="000000"/>
                </a:solidFill>
              </a:rPr>
              <a:t> Token performance, platform comparison and historical trends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Purpose:</a:t>
            </a:r>
            <a:r>
              <a:rPr lang="en">
                <a:solidFill>
                  <a:srgbClr val="000000"/>
                </a:solidFill>
              </a:rPr>
              <a:t> Turn cleaned warehouse data into decision-ready executive insights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7875" y="1028888"/>
            <a:ext cx="4593349" cy="30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Performers Report 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616075" y="1591375"/>
            <a:ext cx="3097800" cy="2635500"/>
          </a:xfrm>
          <a:prstGeom prst="rect">
            <a:avLst/>
          </a:prstGeom>
          <a:gradFill>
            <a:gsLst>
              <a:gs pos="0">
                <a:srgbClr val="EFE6DE"/>
              </a:gs>
              <a:gs pos="100000">
                <a:srgbClr val="BEA48B"/>
              </a:gs>
            </a:gsLst>
            <a:lin ang="5400012" scaled="0"/>
          </a:gradFill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Focus:</a:t>
            </a:r>
            <a:r>
              <a:rPr lang="en">
                <a:solidFill>
                  <a:srgbClr val="000000"/>
                </a:solidFill>
              </a:rPr>
              <a:t> Identify the strongest-performing tokens by engagement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Ranking:</a:t>
            </a:r>
            <a:r>
              <a:rPr lang="en">
                <a:solidFill>
                  <a:srgbClr val="000000"/>
                </a:solidFill>
              </a:rPr>
              <a:t> Uses token engagement rank and Dynamic Top 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Filters:</a:t>
            </a:r>
            <a:r>
              <a:rPr lang="en">
                <a:solidFill>
                  <a:srgbClr val="000000"/>
                </a:solidFill>
              </a:rPr>
              <a:t> Top N selection lets users control how many tokens are shown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Comparison:</a:t>
            </a:r>
            <a:r>
              <a:rPr lang="en">
                <a:solidFill>
                  <a:srgbClr val="000000"/>
                </a:solidFill>
              </a:rPr>
              <a:t> Review engagement totals and Avg Engagement Score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Use Case:</a:t>
            </a:r>
            <a:r>
              <a:rPr lang="en">
                <a:solidFill>
                  <a:srgbClr val="000000"/>
                </a:solidFill>
              </a:rPr>
              <a:t> Quickly surface leading tokens for deeper analysis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025" y="1006250"/>
            <a:ext cx="4820973" cy="313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 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616075" y="1601275"/>
            <a:ext cx="3097800" cy="2635500"/>
          </a:xfrm>
          <a:prstGeom prst="rect">
            <a:avLst/>
          </a:prstGeom>
          <a:gradFill>
            <a:gsLst>
              <a:gs pos="0">
                <a:srgbClr val="EFE6DE"/>
              </a:gs>
              <a:gs pos="100000">
                <a:srgbClr val="BEA48B"/>
              </a:gs>
            </a:gsLst>
            <a:lin ang="5400012" scaled="0"/>
          </a:gradFill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Insight 1:</a:t>
            </a:r>
            <a:r>
              <a:rPr lang="en">
                <a:solidFill>
                  <a:srgbClr val="000000"/>
                </a:solidFill>
              </a:rPr>
              <a:t> Recent engagement activity shows a significant spike.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Insight 2:</a:t>
            </a:r>
            <a:r>
              <a:rPr lang="en">
                <a:solidFill>
                  <a:srgbClr val="000000"/>
                </a:solidFill>
              </a:rPr>
              <a:t> A relatively small group of tokens is driving the strongest engagement performance.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Insight 3:</a:t>
            </a:r>
            <a:r>
              <a:rPr lang="en">
                <a:solidFill>
                  <a:srgbClr val="000000"/>
                </a:solidFill>
              </a:rPr>
              <a:t> Reddit currently generates more engagement than Twitter in the platform comparison.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Insight 4:</a:t>
            </a:r>
            <a:r>
              <a:rPr lang="en">
                <a:solidFill>
                  <a:srgbClr val="000000"/>
                </a:solidFill>
              </a:rPr>
              <a:t> Management should monitor leading tokens alongside recent engagement momentum.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Takeaway:</a:t>
            </a:r>
            <a:r>
              <a:rPr lang="en">
                <a:solidFill>
                  <a:srgbClr val="000000"/>
                </a:solidFill>
              </a:rPr>
              <a:t> Combining token ranking, platform analysis and time trends gives a clearer picture than any single KPI.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025" y="1042400"/>
            <a:ext cx="4820975" cy="305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Highlights 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616075" y="1571500"/>
            <a:ext cx="3097800" cy="2635500"/>
          </a:xfrm>
          <a:prstGeom prst="rect">
            <a:avLst/>
          </a:prstGeom>
          <a:gradFill>
            <a:gsLst>
              <a:gs pos="0">
                <a:srgbClr val="EFE6DE"/>
              </a:gs>
              <a:gs pos="100000">
                <a:srgbClr val="BEA48B"/>
              </a:gs>
            </a:gsLst>
            <a:lin ang="5400012" scaled="0"/>
          </a:gradFill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Python &amp; pandas:</a:t>
            </a:r>
            <a:r>
              <a:rPr lang="en">
                <a:solidFill>
                  <a:srgbClr val="000000"/>
                </a:solidFill>
              </a:rPr>
              <a:t> ETL, cleaning, transformation and aggregation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MySQL + SQLAlchemy:</a:t>
            </a:r>
            <a:r>
              <a:rPr lang="en">
                <a:solidFill>
                  <a:srgbClr val="000000"/>
                </a:solidFill>
              </a:rPr>
              <a:t> Warehouse storage and database connectivity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Star Schema: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DimCurrency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DimDate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DimPlatform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FactSocialEngagement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SQL Views:</a:t>
            </a:r>
            <a:r>
              <a:rPr lang="en">
                <a:solidFill>
                  <a:srgbClr val="000000"/>
                </a:solidFill>
              </a:rPr>
              <a:t> Power BI-ready analytical datasets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DAX:</a:t>
            </a:r>
            <a:r>
              <a:rPr lang="en">
                <a:solidFill>
                  <a:srgbClr val="000000"/>
                </a:solidFill>
              </a:rPr>
              <a:t> Time intelligence, ranking, Dynamic Top N and KPI measures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Automation:</a:t>
            </a:r>
            <a:r>
              <a:rPr lang="en">
                <a:solidFill>
                  <a:srgbClr val="000000"/>
                </a:solidFill>
              </a:rPr>
              <a:t> Scheduled ETL + Power BI refresh workflow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Documentation:</a:t>
            </a:r>
            <a:r>
              <a:rPr lang="en">
                <a:solidFill>
                  <a:srgbClr val="000000"/>
                </a:solidFill>
              </a:rPr>
              <a:t> Architecture diagram, data dictionary, runbook and user guide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025" y="1443438"/>
            <a:ext cx="4820973" cy="225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5173175" y="1333200"/>
            <a:ext cx="3097800" cy="2635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Reece Gow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NoodlesCrypto Analytics Platform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End-to-End Data Pipeline with Python &amp; Power BI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GitHub:</a:t>
            </a:r>
            <a:r>
              <a:rPr lang="en">
                <a:solidFill>
                  <a:srgbClr val="000000"/>
                </a:solidFill>
              </a:rPr>
              <a:t> add your repo link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Demo Video:</a:t>
            </a:r>
            <a:r>
              <a:rPr lang="en">
                <a:solidFill>
                  <a:srgbClr val="000000"/>
                </a:solidFill>
              </a:rPr>
              <a:t> add the video link after you record it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Questions?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